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Roboto" panose="02000000000000000000" pitchFamily="2" charset="0"/>
      <p:regular r:id="rId13"/>
      <p:bold r:id="rId14"/>
    </p:embeddedFont>
    <p:embeddedFont>
      <p:font typeface="Roboto Mono Medium" panose="00000009000000000000" pitchFamily="49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7743" autoAdjust="0"/>
  </p:normalViewPr>
  <p:slideViewPr>
    <p:cSldViewPr snapToGrid="0" snapToObjects="1">
      <p:cViewPr varScale="1">
        <p:scale>
          <a:sx n="47" d="100"/>
          <a:sy n="47" d="100"/>
        </p:scale>
        <p:origin x="11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5438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E-School est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plateforme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SaaS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conçue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spécifiquement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structurer,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digitaliser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et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moderniser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la gestion des écoles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privées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RDC et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Afrique.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Aujourd'hui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je vous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présente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solution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prête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à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être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industrialisée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et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déployée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à grande </a:t>
            </a:r>
            <a:r>
              <a:rPr lang="en-US" sz="12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échelle</a:t>
            </a:r>
            <a:r>
              <a:rPr lang="en-US" sz="1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96821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6000" b="1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E-SCHOOL</a:t>
            </a:r>
            <a:endParaRPr lang="en-US" sz="6000" b="1" dirty="0">
              <a:solidFill>
                <a:srgbClr val="00B0F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280190" y="1767721"/>
            <a:ext cx="5893881" cy="2267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4450"/>
              </a:lnSpc>
              <a:buNone/>
            </a:pPr>
            <a:r>
              <a:rPr lang="en-US" sz="35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Plateforme scolaire digitale pour les écoles privées en RDC et en Afrique</a:t>
            </a:r>
            <a:endParaRPr lang="en-US" sz="3550" dirty="0"/>
          </a:p>
        </p:txBody>
      </p:sp>
      <p:sp>
        <p:nvSpPr>
          <p:cNvPr id="5" name="Text 2"/>
          <p:cNvSpPr/>
          <p:nvPr/>
        </p:nvSpPr>
        <p:spPr>
          <a:xfrm>
            <a:off x="6280190" y="437578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dirty="0">
                <a:solidFill>
                  <a:srgbClr val="00B0F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Présenté par : Alidor SABUE</a:t>
            </a: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280190" y="4993838"/>
            <a:ext cx="7556421" cy="2267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E-School est une plateforme SaaS conçue spécifiquement pour structurer, digitaliser et moderniser la gestion des écoles privées en RDC et en Afrique. Aujourd'hui, je vous présente une solution prête à être industrialisée et déployée à grande échelle.</a:t>
            </a:r>
            <a:endParaRPr lang="en-US" sz="2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B89BE68-20E9-DC11-75F5-1BD3386E0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32559" y="0"/>
            <a:ext cx="7385257" cy="763942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DA16E88-E336-F6FB-AD1A-7BD1A79D0F04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597701"/>
            <a:ext cx="323099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CONTEXTE &amp; PROBLÈME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1204120"/>
            <a:ext cx="1224867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La réalité des écoles privées en RDC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93790" y="215714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Défis actuels</a:t>
            </a:r>
            <a:endParaRPr lang="en-US" sz="2800" b="1" dirty="0"/>
          </a:p>
        </p:txBody>
      </p:sp>
      <p:sp>
        <p:nvSpPr>
          <p:cNvPr id="5" name="Text 3"/>
          <p:cNvSpPr/>
          <p:nvPr/>
        </p:nvSpPr>
        <p:spPr>
          <a:xfrm>
            <a:off x="793790" y="3095744"/>
            <a:ext cx="7758539" cy="466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3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Gestion administrative manuelle ou Excel fragmenté</a:t>
            </a:r>
            <a:endParaRPr lang="en-US" sz="3200" dirty="0"/>
          </a:p>
          <a:p>
            <a:pPr marL="342900" indent="-342900" algn="l">
              <a:buSzPct val="100000"/>
              <a:buChar char="•"/>
            </a:pPr>
            <a:r>
              <a:rPr lang="en-US" sz="3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Suivi des paiements non </a:t>
            </a:r>
            <a:r>
              <a:rPr lang="en-US" sz="28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structuré</a:t>
            </a:r>
            <a:endParaRPr lang="en-US" sz="3200" dirty="0"/>
          </a:p>
          <a:p>
            <a:pPr marL="342900" indent="-342900" algn="l">
              <a:buSzPct val="100000"/>
              <a:buChar char="•"/>
            </a:pPr>
            <a:r>
              <a:rPr lang="en-US" sz="3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Difficulté de communication école </a:t>
            </a:r>
            <a:r>
              <a:rPr lang="en-US" sz="3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↔</a:t>
            </a:r>
            <a:r>
              <a:rPr lang="en-US" sz="3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parents</a:t>
            </a:r>
            <a:endParaRPr lang="en-US" sz="3200" dirty="0"/>
          </a:p>
          <a:p>
            <a:pPr marL="342900" indent="-342900" algn="l">
              <a:buSzPct val="100000"/>
              <a:buChar char="•"/>
            </a:pPr>
            <a:r>
              <a:rPr lang="en-US" sz="3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Absence d'e-learning organisé</a:t>
            </a:r>
            <a:endParaRPr lang="en-US" sz="3200" dirty="0"/>
          </a:p>
          <a:p>
            <a:pPr marL="342900" indent="-342900" algn="l">
              <a:buSzPct val="100000"/>
              <a:buChar char="•"/>
            </a:pPr>
            <a:r>
              <a:rPr lang="en-US" sz="3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Faible connectivité internet</a:t>
            </a:r>
            <a:endParaRPr lang="en-US" sz="3200" dirty="0"/>
          </a:p>
          <a:p>
            <a:pPr marL="342900" indent="-342900" algn="l">
              <a:buSzPct val="100000"/>
              <a:buChar char="•"/>
            </a:pPr>
            <a:r>
              <a:rPr lang="en-US" sz="32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Forte dépendance au Mobile Money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785412" y="3095744"/>
            <a:ext cx="5222173" cy="3532108"/>
          </a:xfrm>
          <a:prstGeom prst="roundRect">
            <a:avLst>
              <a:gd name="adj" fmla="val 963"/>
            </a:avLst>
          </a:prstGeom>
          <a:solidFill>
            <a:srgbClr val="DCFF50"/>
          </a:solidFill>
          <a:ln/>
        </p:spPr>
      </p:sp>
      <p:sp>
        <p:nvSpPr>
          <p:cNvPr id="7" name="Text 5"/>
          <p:cNvSpPr/>
          <p:nvPr/>
        </p:nvSpPr>
        <p:spPr>
          <a:xfrm>
            <a:off x="8953899" y="325144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Impact</a:t>
            </a:r>
            <a:endParaRPr lang="en-US" sz="3600" b="1" dirty="0"/>
          </a:p>
        </p:txBody>
      </p:sp>
      <p:sp>
        <p:nvSpPr>
          <p:cNvPr id="8" name="Text 6"/>
          <p:cNvSpPr/>
          <p:nvPr/>
        </p:nvSpPr>
        <p:spPr>
          <a:xfrm>
            <a:off x="9090212" y="3974663"/>
            <a:ext cx="4690558" cy="2228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00B0F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Perte de revenus</a:t>
            </a:r>
            <a:endParaRPr lang="en-US" sz="2400" b="1" dirty="0">
              <a:solidFill>
                <a:srgbClr val="00B0F0"/>
              </a:solidFill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00B0F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Manque de transparence</a:t>
            </a:r>
            <a:endParaRPr lang="en-US" sz="2400" b="1" dirty="0">
              <a:solidFill>
                <a:srgbClr val="00B0F0"/>
              </a:solidFill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00B0F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Charge administrative élevée</a:t>
            </a:r>
            <a:endParaRPr lang="en-US" sz="2400" b="1" dirty="0">
              <a:solidFill>
                <a:srgbClr val="00B0F0"/>
              </a:solidFill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00B0F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Difficulté de croissance</a:t>
            </a:r>
            <a:endParaRPr lang="en-US" sz="2400" b="1" dirty="0">
              <a:solidFill>
                <a:srgbClr val="00B0F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858C72-18DF-85FF-8308-DE9A6F7A2D69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19935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08797" y="2319366"/>
            <a:ext cx="2511743" cy="249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OPPORTUNITÉ DE MARCHÉ</a:t>
            </a:r>
          </a:p>
        </p:txBody>
      </p:sp>
      <p:sp>
        <p:nvSpPr>
          <p:cNvPr id="4" name="Text 1"/>
          <p:cNvSpPr/>
          <p:nvPr/>
        </p:nvSpPr>
        <p:spPr>
          <a:xfrm>
            <a:off x="1812846" y="2773722"/>
            <a:ext cx="8133278" cy="4983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Un potentiel business considérable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1812846" y="3943112"/>
            <a:ext cx="2812942" cy="1066086"/>
          </a:xfrm>
          <a:prstGeom prst="roundRect">
            <a:avLst>
              <a:gd name="adj" fmla="val 2244"/>
            </a:avLst>
          </a:prstGeom>
          <a:solidFill>
            <a:srgbClr val="404040"/>
          </a:solidFill>
          <a:ln/>
        </p:spPr>
      </p:sp>
      <p:sp>
        <p:nvSpPr>
          <p:cNvPr id="6" name="Text 3"/>
          <p:cNvSpPr/>
          <p:nvPr/>
        </p:nvSpPr>
        <p:spPr>
          <a:xfrm>
            <a:off x="1972270" y="4102537"/>
            <a:ext cx="2507694" cy="747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Plus de 70% des écoles privées non digitalisées</a:t>
            </a: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4751426" y="3943112"/>
            <a:ext cx="2956278" cy="1066086"/>
          </a:xfrm>
          <a:prstGeom prst="roundRect">
            <a:avLst>
              <a:gd name="adj" fmla="val 2244"/>
            </a:avLst>
          </a:prstGeom>
          <a:solidFill>
            <a:srgbClr val="404040"/>
          </a:solidFill>
          <a:ln/>
        </p:spPr>
      </p:sp>
      <p:sp>
        <p:nvSpPr>
          <p:cNvPr id="8" name="Text 5"/>
          <p:cNvSpPr/>
          <p:nvPr/>
        </p:nvSpPr>
        <p:spPr>
          <a:xfrm>
            <a:off x="4910849" y="4102537"/>
            <a:ext cx="2796855" cy="747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Croissance continue du secteur privé éducatif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7819395" y="3950004"/>
            <a:ext cx="2667119" cy="1066086"/>
          </a:xfrm>
          <a:prstGeom prst="roundRect">
            <a:avLst>
              <a:gd name="adj" fmla="val 2244"/>
            </a:avLst>
          </a:prstGeom>
          <a:solidFill>
            <a:srgbClr val="404040"/>
          </a:solidFill>
          <a:ln/>
        </p:spPr>
      </p:sp>
      <p:sp>
        <p:nvSpPr>
          <p:cNvPr id="10" name="Text 7"/>
          <p:cNvSpPr/>
          <p:nvPr/>
        </p:nvSpPr>
        <p:spPr>
          <a:xfrm>
            <a:off x="7978820" y="4102537"/>
            <a:ext cx="2507694" cy="747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Augmentation du taux d'équipement smartphone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10652340" y="3943112"/>
            <a:ext cx="2667119" cy="1066086"/>
          </a:xfrm>
          <a:prstGeom prst="roundRect">
            <a:avLst>
              <a:gd name="adj" fmla="val 2244"/>
            </a:avLst>
          </a:prstGeom>
          <a:solidFill>
            <a:srgbClr val="404040"/>
          </a:solidFill>
          <a:ln/>
        </p:spPr>
      </p:sp>
      <p:sp>
        <p:nvSpPr>
          <p:cNvPr id="12" name="Text 9"/>
          <p:cNvSpPr/>
          <p:nvPr/>
        </p:nvSpPr>
        <p:spPr>
          <a:xfrm>
            <a:off x="10867823" y="4102537"/>
            <a:ext cx="2507694" cy="747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Parents plus exigeants sur la transparence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812846" y="5177314"/>
            <a:ext cx="11004590" cy="2063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DCFF5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Opportunité :</a:t>
            </a:r>
            <a:r>
              <a:rPr lang="en-US" sz="4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Devenir la solution SaaS de référence pour les écoles privées en Afrique centrale.</a:t>
            </a:r>
            <a:endParaRPr lang="en-US" sz="43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3434C2-7F06-2786-5F3D-C0521EBF6018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3302" y="581561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LA SOLUTION</a:t>
            </a:r>
          </a:p>
        </p:txBody>
      </p:sp>
      <p:sp>
        <p:nvSpPr>
          <p:cNvPr id="3" name="Text 1"/>
          <p:cNvSpPr/>
          <p:nvPr/>
        </p:nvSpPr>
        <p:spPr>
          <a:xfrm>
            <a:off x="703302" y="1123712"/>
            <a:ext cx="5727502" cy="628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00"/>
              </a:lnSpc>
              <a:buNone/>
            </a:pPr>
            <a:r>
              <a:rPr lang="en-US" sz="39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E-SCHOOL</a:t>
            </a:r>
            <a:endParaRPr lang="en-US" sz="3950" dirty="0"/>
          </a:p>
        </p:txBody>
      </p:sp>
      <p:sp>
        <p:nvSpPr>
          <p:cNvPr id="4" name="Text 2"/>
          <p:cNvSpPr/>
          <p:nvPr/>
        </p:nvSpPr>
        <p:spPr>
          <a:xfrm>
            <a:off x="703302" y="2018824"/>
            <a:ext cx="13223796" cy="378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Plateforme intégrée couvrant tout le cycle de vie de l'élève :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03302" y="2798326"/>
            <a:ext cx="452080" cy="452080"/>
          </a:xfrm>
          <a:prstGeom prst="roundRect">
            <a:avLst>
              <a:gd name="adj" fmla="val 6668"/>
            </a:avLst>
          </a:prstGeom>
          <a:solidFill>
            <a:schemeClr val="accent2"/>
          </a:solidFill>
          <a:ln>
            <a:solidFill>
              <a:schemeClr val="accent1"/>
            </a:solidFill>
          </a:ln>
        </p:spPr>
      </p:sp>
      <p:sp>
        <p:nvSpPr>
          <p:cNvPr id="6" name="Text 4"/>
          <p:cNvSpPr/>
          <p:nvPr/>
        </p:nvSpPr>
        <p:spPr>
          <a:xfrm>
            <a:off x="1333381" y="2867382"/>
            <a:ext cx="4068604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Inscription &amp; réinscription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03302" y="3606403"/>
            <a:ext cx="452080" cy="452080"/>
          </a:xfrm>
          <a:prstGeom prst="roundRect">
            <a:avLst>
              <a:gd name="adj" fmla="val 6668"/>
            </a:avLst>
          </a:prstGeom>
          <a:solidFill>
            <a:srgbClr val="00B050"/>
          </a:solidFill>
          <a:ln/>
        </p:spPr>
      </p:sp>
      <p:sp>
        <p:nvSpPr>
          <p:cNvPr id="8" name="Text 6"/>
          <p:cNvSpPr/>
          <p:nvPr/>
        </p:nvSpPr>
        <p:spPr>
          <a:xfrm>
            <a:off x="1333381" y="3675459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 err="1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Suivi</a:t>
            </a: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</a:t>
            </a:r>
            <a:r>
              <a:rPr lang="en-US" sz="2400" dirty="0" err="1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académique</a:t>
            </a: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(</a:t>
            </a:r>
            <a:r>
              <a:rPr lang="en-US" sz="2400" dirty="0" err="1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scolaire</a:t>
            </a: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03302" y="4414480"/>
            <a:ext cx="452080" cy="452080"/>
          </a:xfrm>
          <a:prstGeom prst="roundRect">
            <a:avLst>
              <a:gd name="adj" fmla="val 6668"/>
            </a:avLst>
          </a:prstGeom>
          <a:solidFill>
            <a:srgbClr val="00B0F0"/>
          </a:solidFill>
          <a:ln/>
        </p:spPr>
      </p:sp>
      <p:sp>
        <p:nvSpPr>
          <p:cNvPr id="10" name="Text 8"/>
          <p:cNvSpPr/>
          <p:nvPr/>
        </p:nvSpPr>
        <p:spPr>
          <a:xfrm>
            <a:off x="1333381" y="4483537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Paiements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03302" y="5222558"/>
            <a:ext cx="452080" cy="452080"/>
          </a:xfrm>
          <a:prstGeom prst="roundRect">
            <a:avLst>
              <a:gd name="adj" fmla="val 6668"/>
            </a:avLst>
          </a:prstGeom>
          <a:solidFill>
            <a:srgbClr val="404040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381" y="5291614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Communication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03302" y="6030635"/>
            <a:ext cx="452080" cy="452080"/>
          </a:xfrm>
          <a:prstGeom prst="roundRect">
            <a:avLst>
              <a:gd name="adj" fmla="val 6668"/>
            </a:avLst>
          </a:prstGeom>
          <a:solidFill>
            <a:srgbClr val="002060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381" y="6099691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E-learning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03302" y="6838712"/>
            <a:ext cx="452080" cy="452080"/>
          </a:xfrm>
          <a:prstGeom prst="roundRect">
            <a:avLst>
              <a:gd name="adj" fmla="val 6668"/>
            </a:avLst>
          </a:prstGeom>
          <a:solidFill>
            <a:schemeClr val="accent5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381" y="6907768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Encadrement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846256" y="5911274"/>
            <a:ext cx="3014424" cy="3768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Disponible sur :</a:t>
            </a:r>
            <a:endParaRPr lang="en-US" sz="2350" dirty="0"/>
          </a:p>
        </p:txBody>
      </p:sp>
      <p:sp>
        <p:nvSpPr>
          <p:cNvPr id="18" name="Text 16"/>
          <p:cNvSpPr/>
          <p:nvPr/>
        </p:nvSpPr>
        <p:spPr>
          <a:xfrm>
            <a:off x="7348699" y="6494166"/>
            <a:ext cx="4309586" cy="1033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 (administration)</a:t>
            </a:r>
            <a:endParaRPr lang="en-US" sz="2000" dirty="0"/>
          </a:p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Mobile Android &amp; iOS</a:t>
            </a:r>
          </a:p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API REST</a:t>
            </a:r>
            <a:endParaRPr lang="en-US" sz="2000" dirty="0"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20AC03E5-FD76-BC2B-BE17-A97460A7158C}"/>
              </a:ext>
            </a:extLst>
          </p:cNvPr>
          <p:cNvSpPr/>
          <p:nvPr/>
        </p:nvSpPr>
        <p:spPr>
          <a:xfrm>
            <a:off x="6718620" y="2769870"/>
            <a:ext cx="452080" cy="452080"/>
          </a:xfrm>
          <a:prstGeom prst="roundRect">
            <a:avLst>
              <a:gd name="adj" fmla="val 6668"/>
            </a:avLst>
          </a:prstGeom>
          <a:solidFill>
            <a:srgbClr val="FFC000"/>
          </a:solidFill>
          <a:ln/>
        </p:spPr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6E2982B8-EF8E-A080-C770-246AFEAF8E10}"/>
              </a:ext>
            </a:extLst>
          </p:cNvPr>
          <p:cNvSpPr/>
          <p:nvPr/>
        </p:nvSpPr>
        <p:spPr>
          <a:xfrm>
            <a:off x="7348699" y="2838926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Bibliothèque numérique</a:t>
            </a:r>
            <a:endParaRPr lang="en-US" sz="2400" dirty="0"/>
          </a:p>
        </p:txBody>
      </p:sp>
      <p:sp>
        <p:nvSpPr>
          <p:cNvPr id="21" name="Shape 13">
            <a:extLst>
              <a:ext uri="{FF2B5EF4-FFF2-40B4-BE49-F238E27FC236}">
                <a16:creationId xmlns:a16="http://schemas.microsoft.com/office/drawing/2014/main" id="{169011FD-0B2E-4632-FD96-32FBA252C4AD}"/>
              </a:ext>
            </a:extLst>
          </p:cNvPr>
          <p:cNvSpPr/>
          <p:nvPr/>
        </p:nvSpPr>
        <p:spPr>
          <a:xfrm>
            <a:off x="6718620" y="3537347"/>
            <a:ext cx="452080" cy="452080"/>
          </a:xfrm>
          <a:prstGeom prst="roundRect">
            <a:avLst>
              <a:gd name="adj" fmla="val 6668"/>
            </a:avLst>
          </a:prstGeom>
          <a:solidFill>
            <a:srgbClr val="92D050"/>
          </a:solidFill>
          <a:ln/>
        </p:spPr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930A3746-B9D8-1236-ACE7-32B50856D2DA}"/>
              </a:ext>
            </a:extLst>
          </p:cNvPr>
          <p:cNvSpPr/>
          <p:nvPr/>
        </p:nvSpPr>
        <p:spPr>
          <a:xfrm>
            <a:off x="7348699" y="3606403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</a:rPr>
              <a:t>Gestion des </a:t>
            </a:r>
            <a:r>
              <a:rPr lang="en-US" sz="2400" dirty="0" err="1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</a:rPr>
              <a:t>réunions</a:t>
            </a:r>
            <a:endParaRPr lang="en-US" sz="24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397CFFB2-BB3A-C97D-6564-967259E994D5}"/>
              </a:ext>
            </a:extLst>
          </p:cNvPr>
          <p:cNvSpPr/>
          <p:nvPr/>
        </p:nvSpPr>
        <p:spPr>
          <a:xfrm>
            <a:off x="6718620" y="4257497"/>
            <a:ext cx="452080" cy="452080"/>
          </a:xfrm>
          <a:prstGeom prst="roundRect">
            <a:avLst>
              <a:gd name="adj" fmla="val 6668"/>
            </a:avLst>
          </a:prstGeom>
          <a:solidFill>
            <a:srgbClr val="7030A0"/>
          </a:solidFill>
          <a:ln/>
        </p:spPr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FEA5ED64-0157-F235-2723-8303288520ED}"/>
              </a:ext>
            </a:extLst>
          </p:cNvPr>
          <p:cNvSpPr/>
          <p:nvPr/>
        </p:nvSpPr>
        <p:spPr>
          <a:xfrm>
            <a:off x="7348699" y="4326553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 err="1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</a:rPr>
              <a:t>Comptabilité</a:t>
            </a: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</a:rPr>
              <a:t> et </a:t>
            </a:r>
            <a:r>
              <a:rPr lang="en-US" sz="2400" dirty="0" err="1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</a:rPr>
              <a:t>caisse</a:t>
            </a:r>
            <a:endParaRPr lang="en-US" sz="2400" dirty="0"/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87D9ABBB-82DE-D3B2-4695-3CE0281C9A8D}"/>
              </a:ext>
            </a:extLst>
          </p:cNvPr>
          <p:cNvSpPr/>
          <p:nvPr/>
        </p:nvSpPr>
        <p:spPr>
          <a:xfrm>
            <a:off x="6718620" y="4908590"/>
            <a:ext cx="452080" cy="452080"/>
          </a:xfrm>
          <a:prstGeom prst="roundRect">
            <a:avLst>
              <a:gd name="adj" fmla="val 6668"/>
            </a:avLst>
          </a:prstGeom>
          <a:solidFill>
            <a:schemeClr val="tx2"/>
          </a:solidFill>
          <a:ln/>
        </p:spPr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A2EA1CFD-CF14-67E9-B2D4-86A606A54B7F}"/>
              </a:ext>
            </a:extLst>
          </p:cNvPr>
          <p:cNvSpPr/>
          <p:nvPr/>
        </p:nvSpPr>
        <p:spPr>
          <a:xfrm>
            <a:off x="7348699" y="4977646"/>
            <a:ext cx="2511981" cy="31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</a:rPr>
              <a:t>Gestion école</a:t>
            </a:r>
            <a:endParaRPr lang="en-US" sz="24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7B35ED5-CF81-B532-5B18-5B943110C81D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7221" y="598121"/>
            <a:ext cx="374118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ARCHITECTURE TECHNIQUE</a:t>
            </a:r>
          </a:p>
        </p:txBody>
      </p:sp>
      <p:sp>
        <p:nvSpPr>
          <p:cNvPr id="3" name="Text 1"/>
          <p:cNvSpPr/>
          <p:nvPr/>
        </p:nvSpPr>
        <p:spPr>
          <a:xfrm>
            <a:off x="649962" y="1204541"/>
            <a:ext cx="1258895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Une infrastructure robuste et moderne</a:t>
            </a:r>
            <a:endParaRPr lang="en-US" sz="4450" dirty="0"/>
          </a:p>
        </p:txBody>
      </p:sp>
      <p:sp>
        <p:nvSpPr>
          <p:cNvPr id="4" name="Shape 2"/>
          <p:cNvSpPr/>
          <p:nvPr/>
        </p:nvSpPr>
        <p:spPr>
          <a:xfrm>
            <a:off x="793790" y="3293388"/>
            <a:ext cx="3090505" cy="3136702"/>
          </a:xfrm>
          <a:prstGeom prst="roundRect">
            <a:avLst>
              <a:gd name="adj" fmla="val 1101"/>
            </a:avLst>
          </a:prstGeom>
          <a:solidFill>
            <a:srgbClr val="212121"/>
          </a:solidFill>
          <a:ln w="30480">
            <a:solidFill>
              <a:srgbClr val="59595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084" y="3550682"/>
            <a:ext cx="257591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Backend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51084" y="4041100"/>
            <a:ext cx="2575917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Django REST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JWT Auth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PostgreSQL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Celery + Redis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111109" y="3293388"/>
            <a:ext cx="3090624" cy="3136702"/>
          </a:xfrm>
          <a:prstGeom prst="roundRect">
            <a:avLst>
              <a:gd name="adj" fmla="val 1101"/>
            </a:avLst>
          </a:prstGeom>
          <a:solidFill>
            <a:srgbClr val="212121"/>
          </a:solidFill>
          <a:ln w="30480">
            <a:solidFill>
              <a:srgbClr val="59595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68403" y="3550682"/>
            <a:ext cx="257603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Frontend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68403" y="4041100"/>
            <a:ext cx="25760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 + TypeScript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7428548" y="3293388"/>
            <a:ext cx="3090624" cy="3136702"/>
          </a:xfrm>
          <a:prstGeom prst="roundRect">
            <a:avLst>
              <a:gd name="adj" fmla="val 1101"/>
            </a:avLst>
          </a:prstGeom>
          <a:solidFill>
            <a:srgbClr val="212121"/>
          </a:solidFill>
          <a:ln w="30480">
            <a:solidFill>
              <a:srgbClr val="5959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5842" y="3550682"/>
            <a:ext cx="257603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Mobile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685842" y="4041100"/>
            <a:ext cx="2576036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Flutter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Offline-first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10745986" y="3293388"/>
            <a:ext cx="3090624" cy="3136702"/>
          </a:xfrm>
          <a:prstGeom prst="roundRect">
            <a:avLst>
              <a:gd name="adj" fmla="val 1101"/>
            </a:avLst>
          </a:prstGeom>
          <a:solidFill>
            <a:srgbClr val="212121"/>
          </a:solidFill>
          <a:ln w="30480">
            <a:solidFill>
              <a:srgbClr val="59595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003280" y="3550682"/>
            <a:ext cx="257603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Paiements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003280" y="4041100"/>
            <a:ext cx="2576036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Mobile Money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FFF489-6804-B5B0-7B48-6A21A58BDEB0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97404"/>
            <a:ext cx="306097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MATURITÉ TECHNIQUE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1780342"/>
            <a:ext cx="850606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Ce n'est pas un prototype</a:t>
            </a:r>
            <a:endParaRPr lang="en-US" sz="4450" dirty="0"/>
          </a:p>
        </p:txBody>
      </p:sp>
      <p:sp>
        <p:nvSpPr>
          <p:cNvPr id="4" name="Text 2"/>
          <p:cNvSpPr/>
          <p:nvPr/>
        </p:nvSpPr>
        <p:spPr>
          <a:xfrm>
            <a:off x="793790" y="2829282"/>
            <a:ext cx="130428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C'est une solution structurée et industrialisable.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3651290"/>
            <a:ext cx="3048000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10</a:t>
            </a:r>
            <a:endParaRPr lang="en-US" sz="5850" dirty="0"/>
          </a:p>
        </p:txBody>
      </p:sp>
      <p:sp>
        <p:nvSpPr>
          <p:cNvPr id="6" name="Text 4"/>
          <p:cNvSpPr/>
          <p:nvPr/>
        </p:nvSpPr>
        <p:spPr>
          <a:xfrm>
            <a:off x="793790" y="4683085"/>
            <a:ext cx="304800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modules fonctionnels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25278" y="3651290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45+</a:t>
            </a:r>
            <a:endParaRPr lang="en-US" sz="5850" dirty="0"/>
          </a:p>
        </p:txBody>
      </p:sp>
      <p:sp>
        <p:nvSpPr>
          <p:cNvPr id="8" name="Text 6"/>
          <p:cNvSpPr/>
          <p:nvPr/>
        </p:nvSpPr>
        <p:spPr>
          <a:xfrm>
            <a:off x="4125278" y="4683085"/>
            <a:ext cx="304811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modèles de données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456884" y="3651290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50+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7563326" y="46830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endpoints API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788491" y="3651290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</a:rPr>
              <a:t>6</a:t>
            </a:r>
            <a:endParaRPr lang="en-US" sz="5850" dirty="0"/>
          </a:p>
        </p:txBody>
      </p:sp>
      <p:sp>
        <p:nvSpPr>
          <p:cNvPr id="12" name="Text 10"/>
          <p:cNvSpPr/>
          <p:nvPr/>
        </p:nvSpPr>
        <p:spPr>
          <a:xfrm>
            <a:off x="10788491" y="4683085"/>
            <a:ext cx="304811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rôles utilisateurs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35473" y="5808261"/>
            <a:ext cx="13042821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Documentation API complète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Dockerisé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Tests automatisés</a:t>
            </a:r>
            <a:endParaRPr lang="en-US" sz="175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E4146D-A217-738C-B15F-74F884D6CD44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42" y="557353"/>
            <a:ext cx="2169200" cy="22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MODULES STRATÉGIQUES</a:t>
            </a:r>
          </a:p>
        </p:txBody>
      </p:sp>
      <p:sp>
        <p:nvSpPr>
          <p:cNvPr id="3" name="Text 1"/>
          <p:cNvSpPr/>
          <p:nvPr/>
        </p:nvSpPr>
        <p:spPr>
          <a:xfrm>
            <a:off x="1019592" y="1167944"/>
            <a:ext cx="6511885" cy="452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Structurés par impact business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5450" y="1960721"/>
            <a:ext cx="3881011" cy="1951911"/>
          </a:xfrm>
          <a:prstGeom prst="roundRect">
            <a:avLst>
              <a:gd name="adj" fmla="val 1112"/>
            </a:avLst>
          </a:prstGeom>
          <a:solidFill>
            <a:srgbClr val="404040"/>
          </a:solidFill>
          <a:ln/>
        </p:spPr>
      </p:sp>
      <p:sp>
        <p:nvSpPr>
          <p:cNvPr id="5" name="Shape 3"/>
          <p:cNvSpPr/>
          <p:nvPr/>
        </p:nvSpPr>
        <p:spPr>
          <a:xfrm>
            <a:off x="1263460" y="2105382"/>
            <a:ext cx="433983" cy="433983"/>
          </a:xfrm>
          <a:prstGeom prst="roundRect">
            <a:avLst>
              <a:gd name="adj" fmla="val 21067843"/>
            </a:avLst>
          </a:prstGeom>
          <a:solidFill>
            <a:srgbClr val="DCFF5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81949" y="2218195"/>
            <a:ext cx="195263" cy="1952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98759" y="2235942"/>
            <a:ext cx="2386132" cy="22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b="1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Gestion administrative</a:t>
            </a:r>
            <a:endParaRPr lang="en-US" b="1" dirty="0"/>
          </a:p>
        </p:txBody>
      </p:sp>
      <p:sp>
        <p:nvSpPr>
          <p:cNvPr id="8" name="Text 5"/>
          <p:cNvSpPr/>
          <p:nvPr/>
        </p:nvSpPr>
        <p:spPr>
          <a:xfrm>
            <a:off x="1381949" y="2838037"/>
            <a:ext cx="3224765" cy="633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Multi-écoles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Authentification avancée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Inscription digitale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287453" y="2006365"/>
            <a:ext cx="3533817" cy="1951911"/>
          </a:xfrm>
          <a:prstGeom prst="roundRect">
            <a:avLst>
              <a:gd name="adj" fmla="val 1112"/>
            </a:avLst>
          </a:prstGeom>
          <a:solidFill>
            <a:srgbClr val="404040"/>
          </a:solidFill>
          <a:ln/>
        </p:spPr>
      </p:sp>
      <p:sp>
        <p:nvSpPr>
          <p:cNvPr id="10" name="Shape 7"/>
          <p:cNvSpPr/>
          <p:nvPr/>
        </p:nvSpPr>
        <p:spPr>
          <a:xfrm>
            <a:off x="5511879" y="2129076"/>
            <a:ext cx="433983" cy="433983"/>
          </a:xfrm>
          <a:prstGeom prst="roundRect">
            <a:avLst>
              <a:gd name="adj" fmla="val 21067843"/>
            </a:avLst>
          </a:prstGeom>
          <a:solidFill>
            <a:srgbClr val="DCFF5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05201" y="2248376"/>
            <a:ext cx="195263" cy="1952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083407" y="2248376"/>
            <a:ext cx="1843921" cy="22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Suivi pédagogique</a:t>
            </a: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5605201" y="2750982"/>
            <a:ext cx="3201869" cy="116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 &amp; bulletins</a:t>
            </a:r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E-learning &amp; Bibliothèque</a:t>
            </a:r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Présence</a:t>
            </a:r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Fiche de discipline</a:t>
            </a:r>
          </a:p>
        </p:txBody>
      </p:sp>
      <p:sp>
        <p:nvSpPr>
          <p:cNvPr id="14" name="Shape 10"/>
          <p:cNvSpPr/>
          <p:nvPr/>
        </p:nvSpPr>
        <p:spPr>
          <a:xfrm>
            <a:off x="9304615" y="2035612"/>
            <a:ext cx="4052798" cy="1951911"/>
          </a:xfrm>
          <a:prstGeom prst="roundRect">
            <a:avLst>
              <a:gd name="adj" fmla="val 1112"/>
            </a:avLst>
          </a:prstGeom>
          <a:solidFill>
            <a:srgbClr val="404040"/>
          </a:solidFill>
          <a:ln/>
        </p:spPr>
      </p:sp>
      <p:sp>
        <p:nvSpPr>
          <p:cNvPr id="15" name="Shape 11"/>
          <p:cNvSpPr/>
          <p:nvPr/>
        </p:nvSpPr>
        <p:spPr>
          <a:xfrm>
            <a:off x="9486364" y="2123006"/>
            <a:ext cx="433983" cy="433983"/>
          </a:xfrm>
          <a:prstGeom prst="roundRect">
            <a:avLst>
              <a:gd name="adj" fmla="val 21067843"/>
            </a:avLst>
          </a:prstGeom>
          <a:solidFill>
            <a:srgbClr val="DCFF5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09408" y="2248376"/>
            <a:ext cx="195263" cy="1952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109835" y="2189536"/>
            <a:ext cx="2494598" cy="22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Revenus &amp; communication</a:t>
            </a: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9703355" y="2786268"/>
            <a:ext cx="3654057" cy="854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Paiements Mobile Money</a:t>
            </a:r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Communication (parents)</a:t>
            </a:r>
          </a:p>
          <a:p>
            <a:pPr marL="342900" indent="-342900">
              <a:buSzPct val="100000"/>
              <a:buChar char="•"/>
            </a:pPr>
            <a:r>
              <a:rPr lang="en-US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Réunions</a:t>
            </a:r>
            <a:endParaRPr lang="en-US" dirty="0">
              <a:solidFill>
                <a:srgbClr val="E5E0D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Encadrement</a:t>
            </a:r>
            <a:endParaRPr lang="en-US" dirty="0">
              <a:solidFill>
                <a:srgbClr val="E5E0D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1263460" y="4187666"/>
            <a:ext cx="1952387" cy="22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dirty="0">
                <a:solidFill>
                  <a:srgbClr val="DCFF5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ADAPTATION AFRIQUE</a:t>
            </a: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2323148" y="4449723"/>
            <a:ext cx="7380208" cy="452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Pensé dès le départ pour l'Afrique</a:t>
            </a:r>
            <a:endParaRPr lang="en-US" sz="3600" dirty="0"/>
          </a:p>
        </p:txBody>
      </p:sp>
      <p:sp>
        <p:nvSpPr>
          <p:cNvPr id="21" name="Text 16"/>
          <p:cNvSpPr/>
          <p:nvPr/>
        </p:nvSpPr>
        <p:spPr>
          <a:xfrm>
            <a:off x="2323148" y="4927997"/>
            <a:ext cx="9984105" cy="473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 majorité des solutions internationales échouent ici parce qu'elles ne sont pas adaptées au contexte. E-School a été pensé dès le départ pour l'Afrique.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830317" y="5613791"/>
            <a:ext cx="10663521" cy="2303916"/>
          </a:xfrm>
          <a:prstGeom prst="roundRect">
            <a:avLst>
              <a:gd name="adj" fmla="val 1363"/>
            </a:avLst>
          </a:prstGeom>
          <a:noFill/>
          <a:ln w="762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470777" y="5945170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Contrainte locale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7459020" y="5945170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Réponse E-School</a:t>
            </a:r>
            <a:endParaRPr lang="en-US" sz="2400" dirty="0"/>
          </a:p>
        </p:txBody>
      </p:sp>
      <p:sp>
        <p:nvSpPr>
          <p:cNvPr id="27" name="Text 22"/>
          <p:cNvSpPr/>
          <p:nvPr/>
        </p:nvSpPr>
        <p:spPr>
          <a:xfrm>
            <a:off x="2590810" y="6450234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instable</a:t>
            </a:r>
            <a:endParaRPr lang="en-US" sz="2000" dirty="0"/>
          </a:p>
        </p:txBody>
      </p:sp>
      <p:sp>
        <p:nvSpPr>
          <p:cNvPr id="28" name="Text 23"/>
          <p:cNvSpPr/>
          <p:nvPr/>
        </p:nvSpPr>
        <p:spPr>
          <a:xfrm>
            <a:off x="7579053" y="6450234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 offline-first</a:t>
            </a:r>
            <a:endParaRPr lang="en-US" sz="2000" dirty="0"/>
          </a:p>
        </p:txBody>
      </p:sp>
      <p:sp>
        <p:nvSpPr>
          <p:cNvPr id="30" name="Text 25"/>
          <p:cNvSpPr/>
          <p:nvPr/>
        </p:nvSpPr>
        <p:spPr>
          <a:xfrm>
            <a:off x="2590810" y="6765749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Paiements cash</a:t>
            </a:r>
            <a:endParaRPr lang="en-US" sz="2000" dirty="0"/>
          </a:p>
        </p:txBody>
      </p:sp>
      <p:sp>
        <p:nvSpPr>
          <p:cNvPr id="31" name="Text 26"/>
          <p:cNvSpPr/>
          <p:nvPr/>
        </p:nvSpPr>
        <p:spPr>
          <a:xfrm>
            <a:off x="7579053" y="6765749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Mobile Money intégré</a:t>
            </a:r>
            <a:endParaRPr lang="en-US" sz="2000" dirty="0"/>
          </a:p>
        </p:txBody>
      </p:sp>
      <p:sp>
        <p:nvSpPr>
          <p:cNvPr id="33" name="Text 28"/>
          <p:cNvSpPr/>
          <p:nvPr/>
        </p:nvSpPr>
        <p:spPr>
          <a:xfrm>
            <a:off x="2590810" y="7081265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Coût SMS élevé</a:t>
            </a:r>
            <a:endParaRPr lang="en-US" sz="2000" dirty="0"/>
          </a:p>
        </p:txBody>
      </p:sp>
      <p:sp>
        <p:nvSpPr>
          <p:cNvPr id="34" name="Text 29"/>
          <p:cNvSpPr/>
          <p:nvPr/>
        </p:nvSpPr>
        <p:spPr>
          <a:xfrm>
            <a:off x="7579053" y="7081265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API optimisée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590810" y="7396781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Multiplicité écoles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7579053" y="7396781"/>
            <a:ext cx="4691301" cy="18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SaaS</a:t>
            </a:r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CE678C-5145-0BD2-F411-17C44EBECD14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4489" y="811887"/>
            <a:ext cx="3931801" cy="4818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MODÈLE ÉCONOMIQUE</a:t>
            </a:r>
          </a:p>
        </p:txBody>
      </p:sp>
      <p:sp>
        <p:nvSpPr>
          <p:cNvPr id="3" name="Text 1"/>
          <p:cNvSpPr/>
          <p:nvPr/>
        </p:nvSpPr>
        <p:spPr>
          <a:xfrm>
            <a:off x="674489" y="1703070"/>
            <a:ext cx="3122652" cy="361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Revenus principaux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74489" y="2228136"/>
            <a:ext cx="6405682" cy="1312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Abonnement mensuel par école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Commission sur paiements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Installation &amp; formation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Modules premium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557849" y="1703070"/>
            <a:ext cx="3469600" cy="361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Modèle SaaS scalable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557849" y="2287229"/>
            <a:ext cx="4580363" cy="717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Plus </a:t>
            </a:r>
            <a:r>
              <a:rPr lang="en-US" sz="20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d'écoles</a:t>
            </a: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= plus de </a:t>
            </a:r>
            <a:r>
              <a:rPr lang="en-US" sz="20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revenus</a:t>
            </a:r>
            <a:endParaRPr lang="en-US" sz="2000" dirty="0">
              <a:solidFill>
                <a:srgbClr val="E5E0D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 algn="l">
              <a:lnSpc>
                <a:spcPts val="2200"/>
              </a:lnSpc>
              <a:buNone/>
            </a:pPr>
            <a:endParaRPr lang="en-US" sz="2000" dirty="0">
              <a:solidFill>
                <a:srgbClr val="E5E0D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 algn="l">
              <a:lnSpc>
                <a:spcPts val="2200"/>
              </a:lnSpc>
              <a:buNone/>
            </a:pPr>
            <a:r>
              <a:rPr lang="en-US" sz="20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Coûts</a:t>
            </a: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fixes </a:t>
            </a:r>
            <a:r>
              <a:rPr lang="en-US" sz="20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relativement</a:t>
            </a: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stables</a:t>
            </a:r>
          </a:p>
        </p:txBody>
      </p:sp>
      <p:sp>
        <p:nvSpPr>
          <p:cNvPr id="8" name="Shape 6"/>
          <p:cNvSpPr/>
          <p:nvPr/>
        </p:nvSpPr>
        <p:spPr>
          <a:xfrm>
            <a:off x="674489" y="3878307"/>
            <a:ext cx="13281422" cy="31671"/>
          </a:xfrm>
          <a:prstGeom prst="rect">
            <a:avLst/>
          </a:prstGeom>
          <a:solidFill>
            <a:srgbClr val="E5E0DF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74489" y="4155519"/>
            <a:ext cx="4856917" cy="4818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PROJECTION FINANCIÈRE</a:t>
            </a:r>
          </a:p>
        </p:txBody>
      </p:sp>
      <p:sp>
        <p:nvSpPr>
          <p:cNvPr id="10" name="Text 8"/>
          <p:cNvSpPr/>
          <p:nvPr/>
        </p:nvSpPr>
        <p:spPr>
          <a:xfrm>
            <a:off x="674489" y="4702850"/>
            <a:ext cx="3990023" cy="361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Hypothèse</a:t>
            </a:r>
            <a:r>
              <a:rPr lang="en-US" sz="28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conservatrice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183341" y="5309830"/>
            <a:ext cx="12772570" cy="9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 écoles = 72 000 $ / an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 écoles = 144 000 $ / an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200 écoles = 288 000 $ / an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74489" y="6525458"/>
            <a:ext cx="3643074" cy="361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Commissions paiements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183341" y="7132439"/>
            <a:ext cx="12772570" cy="2851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Projection à 100 écoles : ≈ 200 000 – 250 000 $ / an</a:t>
            </a:r>
            <a:endParaRPr lang="en-US" sz="2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E3B351-CF8A-BED2-0C55-4C05B42589CC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07449" y="769032"/>
            <a:ext cx="2022515" cy="252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PARTENARIAT</a:t>
            </a:r>
            <a:endParaRPr lang="en-US" sz="4400" dirty="0">
              <a:solidFill>
                <a:srgbClr val="00B0F0"/>
              </a:solidFill>
              <a:latin typeface="Roboto Mono Medium" pitchFamily="34" charset="0"/>
              <a:ea typeface="Roboto Mono Medium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1732955" y="1462326"/>
            <a:ext cx="9708594" cy="505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n-US" sz="31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Construire une solution EdTech dominante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1732955" y="2256353"/>
            <a:ext cx="2426970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Vous :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894642" y="2674977"/>
            <a:ext cx="5384959" cy="74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Déploiement terrain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Prospection commerciale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Relation institutionnelle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520107" y="2256353"/>
            <a:ext cx="2426970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Nous :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699401" y="2674977"/>
            <a:ext cx="5384959" cy="100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Technologie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Maintenance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Évolutions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 technique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732955" y="3933795"/>
            <a:ext cx="11164491" cy="27742"/>
          </a:xfrm>
          <a:prstGeom prst="rect">
            <a:avLst/>
          </a:prstGeom>
          <a:solidFill>
            <a:srgbClr val="E5E0DF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732955" y="4134564"/>
            <a:ext cx="3236000" cy="404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00"/>
              </a:lnSpc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</a:rPr>
              <a:t>VISION 3 ANS</a:t>
            </a: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955" y="4712137"/>
            <a:ext cx="5582245" cy="64710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94642" y="5474613"/>
            <a:ext cx="2062520" cy="252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200 écoles en RDC</a:t>
            </a:r>
            <a:endParaRPr lang="en-US" sz="2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712137"/>
            <a:ext cx="5582245" cy="64710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76887" y="5474613"/>
            <a:ext cx="3154442" cy="252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Expansion Afrique centrale</a:t>
            </a:r>
            <a:endParaRPr lang="en-US" sz="2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2955" y="5889069"/>
            <a:ext cx="5582245" cy="64710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94642" y="6651546"/>
            <a:ext cx="2547818" cy="252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Module Analytics &amp; BI</a:t>
            </a:r>
            <a:endParaRPr lang="en-US" sz="20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5889069"/>
            <a:ext cx="5582245" cy="64710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476887" y="6651546"/>
            <a:ext cx="4852868" cy="252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Intégration complète Mobile Money locale</a:t>
            </a:r>
            <a:endParaRPr lang="en-US" sz="2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F8B2CD-8CA8-BF3D-895A-4A52D157A395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3427" y="744981"/>
            <a:ext cx="23774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4400" dirty="0">
                <a:solidFill>
                  <a:srgbClr val="00B0F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CONCLUSION FORTE</a:t>
            </a:r>
            <a:endParaRPr lang="en-US" sz="4400" dirty="0">
              <a:solidFill>
                <a:srgbClr val="00B0F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753427" y="1708071"/>
            <a:ext cx="13123545" cy="3565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35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Allons-nous structurer cette opportunité </a:t>
            </a:r>
            <a:r>
              <a:rPr lang="en-US" sz="6600" dirty="0">
                <a:solidFill>
                  <a:srgbClr val="DCFF5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maintenant</a:t>
            </a:r>
            <a:r>
              <a:rPr lang="en-US" sz="66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?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753427" y="5513070"/>
            <a:ext cx="4268153" cy="692706"/>
          </a:xfrm>
          <a:prstGeom prst="roundRect">
            <a:avLst>
              <a:gd name="adj" fmla="val 4119"/>
            </a:avLst>
          </a:prstGeom>
          <a:solidFill>
            <a:srgbClr val="404040"/>
          </a:solidFill>
          <a:ln/>
        </p:spPr>
      </p:sp>
      <p:sp>
        <p:nvSpPr>
          <p:cNvPr id="5" name="Text 3"/>
          <p:cNvSpPr/>
          <p:nvPr/>
        </p:nvSpPr>
        <p:spPr>
          <a:xfrm>
            <a:off x="943570" y="5703213"/>
            <a:ext cx="2377440" cy="312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✔</a:t>
            </a: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Produit prêt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181005" y="5513070"/>
            <a:ext cx="4268272" cy="692706"/>
          </a:xfrm>
          <a:prstGeom prst="roundRect">
            <a:avLst>
              <a:gd name="adj" fmla="val 4119"/>
            </a:avLst>
          </a:prstGeom>
          <a:solidFill>
            <a:srgbClr val="404040"/>
          </a:solidFill>
          <a:ln/>
        </p:spPr>
      </p:sp>
      <p:sp>
        <p:nvSpPr>
          <p:cNvPr id="7" name="Text 5"/>
          <p:cNvSpPr/>
          <p:nvPr/>
        </p:nvSpPr>
        <p:spPr>
          <a:xfrm>
            <a:off x="5371148" y="5703213"/>
            <a:ext cx="2377440" cy="312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✔</a:t>
            </a: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Marché réel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608701" y="5513070"/>
            <a:ext cx="4268153" cy="692706"/>
          </a:xfrm>
          <a:prstGeom prst="roundRect">
            <a:avLst>
              <a:gd name="adj" fmla="val 4119"/>
            </a:avLst>
          </a:prstGeom>
          <a:solidFill>
            <a:srgbClr val="404040"/>
          </a:solidFill>
          <a:ln/>
        </p:spPr>
      </p:sp>
      <p:sp>
        <p:nvSpPr>
          <p:cNvPr id="9" name="Text 7"/>
          <p:cNvSpPr/>
          <p:nvPr/>
        </p:nvSpPr>
        <p:spPr>
          <a:xfrm>
            <a:off x="9798844" y="5703213"/>
            <a:ext cx="2863096" cy="312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✔</a:t>
            </a: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Business scalable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53427" y="6365200"/>
            <a:ext cx="13123426" cy="692706"/>
          </a:xfrm>
          <a:prstGeom prst="roundRect">
            <a:avLst>
              <a:gd name="adj" fmla="val 4119"/>
            </a:avLst>
          </a:prstGeom>
          <a:solidFill>
            <a:srgbClr val="404040"/>
          </a:solidFill>
          <a:ln/>
        </p:spPr>
      </p:sp>
      <p:sp>
        <p:nvSpPr>
          <p:cNvPr id="11" name="Text 9"/>
          <p:cNvSpPr/>
          <p:nvPr/>
        </p:nvSpPr>
        <p:spPr>
          <a:xfrm>
            <a:off x="943570" y="6555343"/>
            <a:ext cx="4289227" cy="312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✔</a:t>
            </a:r>
            <a:r>
              <a:rPr lang="en-US" sz="24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Adapté au contexte africain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BCEF04-1383-6DC1-9074-AB05CB79E644}"/>
              </a:ext>
            </a:extLst>
          </p:cNvPr>
          <p:cNvSpPr/>
          <p:nvPr/>
        </p:nvSpPr>
        <p:spPr>
          <a:xfrm>
            <a:off x="12456160" y="7619102"/>
            <a:ext cx="2153920" cy="590178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552</Words>
  <Application>Microsoft Office PowerPoint</Application>
  <PresentationFormat>Personnalisé</PresentationFormat>
  <Paragraphs>151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Roboto</vt:lpstr>
      <vt:lpstr>Roboto Mono Medium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Alidor SABUE</cp:lastModifiedBy>
  <cp:revision>6</cp:revision>
  <dcterms:created xsi:type="dcterms:W3CDTF">2026-02-17T21:52:29Z</dcterms:created>
  <dcterms:modified xsi:type="dcterms:W3CDTF">2026-02-18T22:04:01Z</dcterms:modified>
</cp:coreProperties>
</file>